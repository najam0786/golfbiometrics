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mul Mustufa Farooquee" userId="e3ce24285558ef7e" providerId="LiveId" clId="{28D65619-B33C-474B-ACC6-E6F675FDF040}"/>
    <pc:docChg chg="modSld">
      <pc:chgData name="Nazmul Mustufa Farooquee" userId="e3ce24285558ef7e" providerId="LiveId" clId="{28D65619-B33C-474B-ACC6-E6F675FDF040}" dt="2026-06-18T14:21:53.313" v="7" actId="1076"/>
      <pc:docMkLst>
        <pc:docMk/>
      </pc:docMkLst>
      <pc:sldChg chg="modSp mod">
        <pc:chgData name="Nazmul Mustufa Farooquee" userId="e3ce24285558ef7e" providerId="LiveId" clId="{28D65619-B33C-474B-ACC6-E6F675FDF040}" dt="2026-06-18T14:21:53.313" v="7" actId="1076"/>
        <pc:sldMkLst>
          <pc:docMk/>
          <pc:sldMk cId="0" sldId="256"/>
        </pc:sldMkLst>
        <pc:spChg chg="mod">
          <ac:chgData name="Nazmul Mustufa Farooquee" userId="e3ce24285558ef7e" providerId="LiveId" clId="{28D65619-B33C-474B-ACC6-E6F675FDF040}" dt="2026-06-18T14:21:23.112" v="2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1:28.563" v="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1:32.823" v="4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1:37.953" v="5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1:44.581" v="6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1:53.313" v="7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0:47.936" v="0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8T14:20:54.327" v="1" actId="1076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" y="0"/>
            <a:ext cx="12141403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" y="6821424"/>
            <a:ext cx="12141403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800" b="1" i="0">
                <a:solidFill>
                  <a:srgbClr val="FFFFFF"/>
                </a:solidFill>
              </a:defRPr>
            </a:pPr>
            <a:r>
              <a:t>GolfBioMetrics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B4C8EB"/>
                </a:solidFill>
              </a:defRPr>
            </a:pPr>
            <a:r>
              <a:t>Biomechanics-Driven Golf Swing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926080"/>
            <a:ext cx="521208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03580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A0B4D7"/>
                </a:solidFill>
              </a:defRPr>
            </a:pPr>
            <a:r>
              <a:t>From standard smartphone video to a scientifically-grounded, coach-readable swing analysis —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160520"/>
            <a:ext cx="2578608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9" y="4439412"/>
            <a:ext cx="2395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A8A04"/>
                </a:solidFill>
              </a:defRPr>
            </a:pPr>
            <a:r>
              <a:rPr dirty="0"/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3" y="4503420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AFBEDC"/>
                </a:solidFill>
              </a:defRPr>
            </a:pPr>
            <a:r>
              <a:rPr dirty="0"/>
              <a:t>Validated</a:t>
            </a:r>
            <a:br>
              <a:rPr dirty="0"/>
            </a:br>
            <a:r>
              <a:rPr dirty="0"/>
              <a:t>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4160520"/>
            <a:ext cx="2578608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4231" y="4443984"/>
            <a:ext cx="2395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A8A04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097" y="4507992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AFBEDC"/>
                </a:solidFill>
              </a:defRPr>
            </a:pPr>
            <a:r>
              <a:t>Interpretable</a:t>
            </a:r>
            <a:br/>
            <a:r>
              <a:t>ML 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4160520"/>
            <a:ext cx="2578608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38064" y="4498848"/>
            <a:ext cx="2395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A8A04"/>
                </a:solidFill>
              </a:defRPr>
            </a:pPr>
            <a:r>
              <a:t>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5" y="4507992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AFBEDC"/>
                </a:solidFill>
              </a:defRPr>
            </a:pPr>
            <a:r>
              <a:t>Swing</a:t>
            </a:r>
            <a:br/>
            <a:r>
              <a:t>Dataset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9408" y="4160520"/>
            <a:ext cx="2578608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5729" y="4251960"/>
            <a:ext cx="2395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CA8A04"/>
                </a:solidFill>
              </a:defRPr>
            </a:pPr>
            <a:r>
              <a:t>R²</a:t>
            </a:r>
            <a:br/>
            <a:r>
              <a:t>0.96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9128" y="4462272"/>
            <a:ext cx="23957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AFBEDC"/>
                </a:solidFill>
              </a:defRPr>
            </a:pPr>
            <a:r>
              <a:rPr dirty="0"/>
              <a:t>Injury Risk</a:t>
            </a:r>
            <a:br>
              <a:rPr dirty="0"/>
            </a:br>
            <a:r>
              <a:rPr dirty="0"/>
              <a:t>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29BC3"/>
                </a:solidFill>
              </a:defRPr>
            </a:pPr>
            <a:r>
              <a:t>Built for Data Sports Group (DSG)   |   Proof of Concept — Production Ready   | 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The Problem — Why 90% of Golfers Never Get Scientific Swing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65 million golfers worldwide. The vast majority receive no scientifically valid swing feedback — relying on guesswork, generic YouTube tips, or expensive coaches who use intuition rather than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15568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The Two Existing Solutions Both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399032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463040"/>
          <a:ext cx="1122883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2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Consumer Apps  (V1 Golf, Hudl)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Professional Labs  (K-Vest, Gears 3D)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Free – $30 / month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$15,000 – $50,000 hardware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Biomechanics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 — rough video angles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Deep but uninterpretable for coaches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Personalisation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Environmental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Injury risk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Who can use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Anyone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Elite academies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3931920"/>
            <a:ext cx="11228832" cy="64008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109545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F172A"/>
                </a:solidFill>
              </a:defRPr>
            </a:pPr>
            <a:r>
              <a:t>The Gap:  A system that delivers professional-grade biomechanics analysis at scale — personalised, injury-aware, and explainable — does not yet exist.  GolfBioMetrics fills this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A 3-Layer Scientific Architecture — No Black-Box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DSG mandate: "Not black-box modelling." Every metric is geometrically computed. Every ML prediction includes a full explanation.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11228832" cy="1435608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197864"/>
            <a:ext cx="10863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LAYER 3 — ML PREDICTION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36192"/>
            <a:ext cx="1086307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CE4F0"/>
                </a:solidFill>
              </a:defRPr>
            </a:pPr>
            <a:r>
              <a:t>5 interpretable models   •   Ball speed, carry distance, swing quality, injury risk   •   SHAP per-golfer explanations   •   &lt; 100 ms 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60904"/>
            <a:ext cx="11228832" cy="1435608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761488"/>
            <a:ext cx="10863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LAYER 2 — BIOMECHANICS METRIC ENGINE  ←  CORE 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086307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CE4F0"/>
                </a:solidFill>
              </a:defRPr>
            </a:pPr>
            <a:r>
              <a:t>7 core metrics from 3D joint geometry (pure physics, zero ML)   •   58 derived features   •   Deterministic — same input always produces same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24528"/>
            <a:ext cx="11228832" cy="1435608"/>
          </a:xfrm>
          <a:prstGeom prst="roundRect">
            <a:avLst/>
          </a:prstGeom>
          <a:solidFill>
            <a:srgbClr val="96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325112"/>
            <a:ext cx="108630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LAYER 1 — POSE ESTIMATION  (MediaPipe, pre-trained)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1086307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CE4F0"/>
                </a:solidFill>
              </a:defRPr>
            </a:pPr>
            <a:r>
              <a:t>18 body keypoints at 60 fps from standard smartphone rear camera   •   3D coordinates per frame   •   No training cost, no labelling required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843016"/>
            <a:ext cx="11228832" cy="502920"/>
          </a:xfrm>
          <a:prstGeom prst="roundRect">
            <a:avLst/>
          </a:prstGeom>
          <a:solidFill>
            <a:srgbClr val="EBF1FC"/>
          </a:solidFill>
          <a:ln w="1524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934456"/>
            <a:ext cx="1095451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475569"/>
                </a:solidFill>
              </a:defRPr>
            </a:pPr>
            <a:r>
              <a:t>"Scientific correctness first, ML second."  Layer 2 metrics are computed from geometry — auditable, explainable, physically grounded.  Layer 3 ML predicts and explains; it does not replace biomechanical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The Dataset — 500 Swings · 626,025 Frames · Zero Defects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Dataset Composition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60120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024128"/>
          <a:ext cx="1122883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1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4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Swings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Kinematic Seq. Score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X-Factor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Ball Speed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Injury Risk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0.91  (0.85–0.98)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47.5°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94.9 mph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0.019 — Very 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Semi-Pro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0.75  (0.65–0.85)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37.5°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82.1 mph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0.131 —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Amateur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0.53  (0.40–0.65)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22.5°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66.7 mph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0.311 — Moderate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Edge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Below 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10–25°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60–82 mph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0.637–0.715 —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301752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475569"/>
                </a:solidFill>
              </a:defRPr>
            </a:pPr>
            <a:r>
              <a:t>Edge cases: occlusion-affected frames, extreme body types, severe compensation patterns (reverse pivot, early cast), high-fatigue swings.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Data Quality Certification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66744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730752"/>
          <a:ext cx="11228832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2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Significance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Missing values (NaN)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Every swing fully measured across all 626,025 frames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Infinite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 arithmetic errors in any metric 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Duplicate rows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All 500 swings are unique, independent observations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Skill-level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Kruskal-Wallis H &gt; 380, p &lt; 10⁻⁸⁰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Metrics are genuine discriminators — not noise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Outcome correlations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 &gt; 0.78  with all primary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Metrics correlate with performance as physics predicts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Layer 2 — The 7 Core Biomechanics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Computed from 3D joint geometry — pure physics, no machine learning. Every metric is traceable to peer-reviewed biomechanics research.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069848"/>
          <a:ext cx="11228832" cy="5341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Elite Benchmark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 Kinematic Sequence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0–1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&gt; 0.85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Proximal-to-distal energy transfer: hips → torso → arms → club.  A score of 0.90 generates 40% more clubhead speed than 0.60 from identical physical effort.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 X-Factor (Hip-Shoulder 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40–55°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Rotational coil between hips and shoulders at top of backswing.  Each extra 10° contributes approximately 8–12 mph of ball speed.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3. Lag Angle Mid-Downswing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degrees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75–90°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Wrist-to-club angle = stored energy.  Releasing too early ('casting') loses 10–20 mph ball speed.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4. Weight Transfer 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milliseconds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50–120 ms before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Centre-of-mass shift from trail to lead foot.  Late or early disrupts power delivery and increases lumbar load.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5. Club Path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0–1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&gt; 0.85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Deviation from a single swing plane.  Directly predicts shot direction repeatability.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6. Compensatory Pattern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 (none detected)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Early cast, reverse pivot, lateral sway, early extension.  Each pattern reduces performance AND raises a specific injury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7. Swing Tempo Ratio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2.5–3.5 :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Backswing time ÷ downswing time.  Rushed downswings prevent the kinematic sequence from firing correctly.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Feature Engineering — 58 Production Features Across 4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No competitor combines all four domains in a single feature matrix.  This is the core intellectual asset of the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2633472" cy="2633472"/>
          </a:xfrm>
          <a:prstGeom prst="round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26187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Biomechanics  (25 features)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45920"/>
            <a:ext cx="2359152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71907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7E1F0"/>
                </a:solidFill>
              </a:defRPr>
            </a:pPr>
            <a:r>
              <a:t>Core swing mechanics computed from 3D joint geometry.  Includes all 7 metrics plus confidence scores per keypoint, per frame.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097280"/>
            <a:ext cx="2633472" cy="263347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26187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Demographics  (10 features)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1645920"/>
            <a:ext cx="2359152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171907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7E1F0"/>
                </a:solidFill>
              </a:defRPr>
            </a:pPr>
            <a:r>
              <a:t>Age-capability factors, years of experience, career stage, physical profile.  Enables age-matched benchmarks instead of unfair Tour-average comparisons.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097280"/>
            <a:ext cx="2633472" cy="2633472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26187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Environmental  (15 features)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45920"/>
            <a:ext cx="2359152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71907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7E1F0"/>
                </a:solidFill>
              </a:defRPr>
            </a:pPr>
            <a:r>
              <a:t>Air density, wind vectors (head/cross), temperature, elevation, time of day, course type.  The only system that normalises performance for playing conditions.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097280"/>
            <a:ext cx="2633472" cy="2633472"/>
          </a:xfrm>
          <a:prstGeom prst="roundRect">
            <a:avLst/>
          </a:prstGeom>
          <a:solidFill>
            <a:srgbClr val="96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126187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Time-Series  (8 features)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1645920"/>
            <a:ext cx="2359152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1719072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7E1F0"/>
                </a:solidFill>
              </a:defRPr>
            </a:pPr>
            <a:r>
              <a:t>Jerk (smoothness), FFT frequency domain, session fatigue, coordination timing.  What 1,252 frames per swing reveal that single-frame metrics cannot.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6"/>
            <a:ext cx="11228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E50A0"/>
                </a:solidFill>
              </a:defRPr>
            </a:pPr>
            <a:r>
              <a:t>TOTAL: 58 features  |  500 swings × 1,252 frames  |  0 NaN  |  0 infinity  |  Validated against published biomechanics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Machine Learning — 5 Interpretable Models, Zero Black-Box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7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475569"/>
                </a:solidFill>
              </a:defRPr>
            </a:pPr>
            <a:r>
              <a:t>Every model was selected for interpretability — coaches, golfers, and clinicians must understand every prediction.  Deep learning / black-box AI explicitly excluded per DSG mandate.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097280"/>
          <a:ext cx="1122883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Predicts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This Model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Ball speed (mph)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Coefficients have direct physical meaning — each feature's contribution to speed is transparent.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R² = 0.85</a:t>
                      </a:r>
                    </a:p>
                    <a:p>
                      <a:r>
                        <a:t>RMSE = 5.2 mph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Swing quality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Produces human-readable rules a coach can print, laminate, and follow without a data science background.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CV-10 Acc = 82%</a:t>
                      </a:r>
                    </a:p>
                    <a:p>
                      <a:r>
                        <a:t>F1 = 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Carry distance (yards)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Captures nonlinear interactions between features (X-Factor only generates distance if timing is also correct).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R² = 0.83</a:t>
                      </a:r>
                    </a:p>
                    <a:p>
                      <a:r>
                        <a:t>RMSE = 9.2 yds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XGBoost +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Injury risk (0–1 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Best accuracy + SHAP explanations give per-feature, per-golfer attribution — the difference between a number and a clinical action plan.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R² = 0.96</a:t>
                      </a:r>
                    </a:p>
                    <a:p>
                      <a:r>
                        <a:t>RMSE = 0.052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SVM (RBF kernel)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Efficient / Inefficient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Fast binary triage at &lt; 5 ms: 'EFFICIENT — refine' or 'INEFFICIENT — fundamental correction needed.'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Acc = 92%</a:t>
                      </a:r>
                    </a:p>
                    <a:p>
                      <a:r>
                        <a:t>AUC = 0.979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Model Results — What the Data 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8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Performance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60120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024128"/>
          <a:ext cx="11228832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 Variable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Ball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R² (test set)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85% of ball-speed variance explained by biomechanics + context alone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Swing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CV-10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Genuine generalisation — label-source column excluded to prevent leakage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Carry distance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R² (test set)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X-Factor alone drives 39.7% of feature importance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XGBoost + SHAP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Injury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R² (test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Clinically significant — 96% of injury risk variance explained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Efficient / Not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Near-perfect ranking ability across any classification threshold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2898647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Key Insights from the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82111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3246119"/>
            <a:ext cx="53766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37559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Kinematic sequence is the dominant predictor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30167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</a:defRPr>
            </a:pPr>
            <a:r>
              <a:t>The order hips → torso → arms → club fire explains more variance in ball speed than any single metric. Fix sequencing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246119"/>
            <a:ext cx="53766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37559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X-Factor drives 39.7% of carry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30167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</a:defRPr>
            </a:pPr>
            <a:r>
              <a:t>Random Forest feature importance: every 10° of additional X-Factor (achievable via mobility training) adds ~12–15 yards — worth months of equipment fitting.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16551"/>
            <a:ext cx="53766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507991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Injury risk is highly predictable (R² = 0.96)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599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</a:defRPr>
            </a:pPr>
            <a:r>
              <a:t>Reverse pivot severity is the top SHAP driver. Identifying and correcting this before volume increases can prevent structural injury.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416551"/>
            <a:ext cx="5376672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4507991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82% swing quality accuracy is genuine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00599"/>
            <a:ext cx="5102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</a:defRPr>
            </a:pPr>
            <a:r>
              <a:t>The previous 100% accuracy was a data-leakage artefact (label-source column in features). The corrected 82% reflects true generalisation.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SHAP Explainability — From Predictions to Per-Golfer Action Plans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9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SHAP (SHapley Additive exPlanations) attributes each prediction to individual features for every single golfer.  Same model, three completely different stories: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097280"/>
            <a:ext cx="3566160" cy="5138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097280"/>
            <a:ext cx="3566160" cy="457200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1161288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Profile A: Elite Golfer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60934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</a:defRPr>
            </a:pPr>
            <a:r>
              <a:t>Injury Risk = 0.02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1920240"/>
            <a:ext cx="3346704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" y="1975104"/>
            <a:ext cx="3346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−0.119  sequence_efficiency    Strong mechanics protecting the spine</a:t>
            </a:r>
          </a:p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−0.033  reverse_pivot_severity  No reverse pivot detected</a:t>
            </a:r>
          </a:p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−0.022  sway_severity           Excellent lateral weight shift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3886200"/>
            <a:ext cx="3346704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950208"/>
            <a:ext cx="3346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0F2447"/>
                </a:solidFill>
              </a:defRPr>
            </a:pPr>
            <a:r>
              <a:t>Your mechanics are protecting your body. Focus on power optimisation, not injury prevention.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6" y="1097280"/>
            <a:ext cx="3566160" cy="5138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88536" y="1097280"/>
            <a:ext cx="3566160" cy="457200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98264" y="1161288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Profile B: Amateur Edge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160934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B91C1C"/>
                </a:solidFill>
              </a:defRPr>
            </a:pPr>
            <a:r>
              <a:t>Injury Risk = 0.71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8264" y="1920240"/>
            <a:ext cx="3346704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98264" y="1975104"/>
            <a:ext cx="3346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+0.183  reverse_pivot_severity  PRIMARY DRIVER — weight staying back</a:t>
            </a:r>
          </a:p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+0.124  sway_severity           Lateral slide instead of hip rotation</a:t>
            </a:r>
          </a:p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+0.091  sequence_efficiency     Poor timing creating compensatory 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98264" y="3886200"/>
            <a:ext cx="3346704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8264" y="3950208"/>
            <a:ext cx="3346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0F2447"/>
                </a:solidFill>
              </a:defRPr>
            </a:pPr>
            <a:r>
              <a:t>Reverse pivot is loading your lead knee on every swing. Hip-extension drills will reduce predicted risk to ~0.45.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1097280"/>
            <a:ext cx="3566160" cy="5138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74152" y="1097280"/>
            <a:ext cx="3566160" cy="457200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80" y="1161288"/>
            <a:ext cx="3346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Profile C: Moderate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609344"/>
            <a:ext cx="3346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A8A04"/>
                </a:solidFill>
              </a:defRPr>
            </a:pPr>
            <a:r>
              <a:t>Injury Risk = 0.42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1920240"/>
            <a:ext cx="3346704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1975104"/>
            <a:ext cx="3346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+0.089  early_cast_severity     Early release → wrist / elbow load</a:t>
            </a:r>
          </a:p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+0.055  sway_severity           Partial lateral movement detected</a:t>
            </a:r>
          </a:p>
          <a:p>
            <a:pPr algn="l">
              <a:defRPr sz="900" b="0" i="0">
                <a:solidFill>
                  <a:srgbClr val="475569"/>
                </a:solidFill>
              </a:defRPr>
            </a:pPr>
            <a:r>
              <a:t>−0.034  sequence_efficiency     Partially protective timing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3886200"/>
            <a:ext cx="3346704" cy="16459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80" y="3950208"/>
            <a:ext cx="3346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0F2447"/>
                </a:solidFill>
              </a:defRPr>
            </a:pPr>
            <a:r>
              <a:t>One primary issue: early casting. Fixing it with lag drills gains ball speed AND reduces injury risk in one intervention.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Statistical Validation — Scientific Proof That the Metrics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10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Discriminant Validity — Kruskal-Wallis H-Test  (do metrics separate skill levels?)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60120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024128"/>
          <a:ext cx="11228832" cy="1803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23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H-Statistic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Effect Size η²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Kinematic Sequence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399.1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2.2 × 10⁻⁸⁷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0.888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LARGE — elite vs amateur is unmistakable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X-Factor (degrees)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381.6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&lt; 10⁻⁸⁰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LARGE — 25° avg gap across cohorts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3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Lag Angle Mid-Downswing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340+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&lt; 10⁻⁷⁰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0.76+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LARGE — confirms energy-storage principle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Swing Tempo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180+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&lt; 10⁻³⁰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0.40+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MODERATE-LARGE — rhythm discriminates skill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269748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Outcome Correlations — Pearson r  (do metrics predict performance as physics predicts?)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80944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044952"/>
          <a:ext cx="6858000" cy="1588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 with Ball Speed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kinematic_sequence_score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+0.834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1.5 × 10⁻¹³⁰  —  not a model artefact, a physical law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xfactor_degrees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+0.818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1.3 × 10⁻¹²¹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lag_angle_mid_downswing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+0.786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4.1 × 10⁻¹⁰⁶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early_cast_severity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−0.710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&lt; 10⁻⁸⁰  —  casting unambiguously costs ball speed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4507992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Benchmark Validation Against Published 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91456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4855464"/>
          <a:ext cx="11228832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Our Elite Range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Published Elite Range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X-Factor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40–55°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40–60°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McTeigue et al. (1994)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Kinematic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0.85–0.98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0.80–1.00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Nesbit &amp; McGinnis (2012)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Swing Tempo Ratio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2.1–3.4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2.0–3.5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Zheng et al. (2008)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How It Helps — Golfers: Personalised, Actionable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The Translation Layer converts technical ML outputs into plain-English problem descriptions, specific drills, and expected improvement timelines personalised to each golfer.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9728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What a Golfer Receives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380744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444752"/>
            <a:ext cx="640080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Plain-English diagnosis of their #1 swing problem (e.g. 'Early Club Release')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Quantified cost in yards  ('You are losing 22 yards due to casting')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Specific named drill with step-by-step instructions  ('The Pump Drill — daily, 10 minutes')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Expected outcome prediction  ('+5° lag angle = +12 yards in 2–3 weeks')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7-day personalised practice plan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Age-matched benchmarks — compared to peers, not PGA Tour averages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47872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Example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31336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3895344"/>
            <a:ext cx="11228832" cy="178308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108630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B91C1C"/>
                </a:solidFill>
              </a:defRPr>
            </a:pPr>
            <a:r>
              <a:t>PRIORITY FIX #1:  Early Club Release ('Casting')   |   Severity: High   |   Yards Lost: ~22</a:t>
            </a:r>
          </a:p>
          <a:p>
            <a:pPr algn="l">
              <a:defRPr sz="600" b="0" i="0">
                <a:solidFill>
                  <a:srgbClr val="0F172A"/>
                </a:solidFill>
              </a:defRPr>
            </a:pPr>
            <a:endParaRPr/>
          </a:p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What we found: You are releasing the club too early in the downswing. Your lag_angle_impact: 16.5° | Tour average: 26°</a:t>
            </a:r>
          </a:p>
          <a:p>
            <a:pPr algn="l">
              <a:defRPr sz="600" b="0" i="0">
                <a:solidFill>
                  <a:srgbClr val="0F172A"/>
                </a:solidFill>
              </a:defRPr>
            </a:pPr>
            <a:endParaRPr/>
          </a:p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Recommended Drill:  The Pump Drill  (10 min · Daily)</a:t>
            </a:r>
          </a:p>
          <a:p>
            <a:pPr algn="l">
              <a:defRPr sz="1100" b="0" i="0">
                <a:solidFill>
                  <a:srgbClr val="475569"/>
                </a:solidFill>
              </a:defRPr>
            </a:pPr>
            <a:r>
              <a:t>1. Take normal backswing  2. Pause at top for 2 seconds  3. Pump the club down 6 inches while maintaining wrist hinge  4. Swing through to finish</a:t>
            </a:r>
          </a:p>
          <a:p>
            <a:pPr algn="l">
              <a:defRPr sz="1100" b="1" i="0">
                <a:solidFill>
                  <a:srgbClr val="15803D"/>
                </a:solidFill>
              </a:defRPr>
            </a:pPr>
            <a:r>
              <a:t>Expected: +4–6° lag angle in 2–3 weeks  =  +12 yards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How It Helps — Coaches &amp; Instructors: Data-Driven Lesson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Coaches observe swings visually today but lack quantified, reproducible metrics to track improvement across sessions or precisely diagnose issues.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97280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What a Coach Receives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380744"/>
            <a:ext cx="537667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444752"/>
            <a:ext cx="53766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Session report per student: 7 biomechanics metrics with trends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Progress charts: X-Factor, kinematic sequence, lag angle across sessions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Tour-average percentile ranking for each metric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Automatic flagging of compensatory patterns (early cast, sway, etc.)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Priority recommendation for next session's focus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Workload insights: is the student's quality degrading with fatigue?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097280"/>
            <a:ext cx="5376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Example Session Summary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380744"/>
            <a:ext cx="537667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26480" y="1444752"/>
            <a:ext cx="5376672" cy="3493008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554480"/>
            <a:ext cx="504748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447"/>
                </a:solidFill>
              </a:defRPr>
            </a:pPr>
            <a:r>
              <a:t>Student: J. Smith  |  Session 12  |  June 18, 2026</a:t>
            </a:r>
          </a:p>
          <a:p>
            <a:pPr algn="l">
              <a:defRPr sz="500" b="0" i="0">
                <a:solidFill>
                  <a:srgbClr val="0F172A"/>
                </a:solidFill>
              </a:defRPr>
            </a:pPr>
            <a:endParaRPr/>
          </a:p>
          <a:p>
            <a:pPr algn="l">
              <a:defRPr sz="1100" b="0" i="0">
                <a:solidFill>
                  <a:srgbClr val="15803D"/>
                </a:solidFill>
              </a:defRPr>
            </a:pPr>
            <a:r>
              <a:t>Kinematic Sequence:   0.71   (+0.08 vs last session)  ✓</a:t>
            </a:r>
          </a:p>
          <a:p>
            <a:pPr algn="l">
              <a:defRPr sz="1100" b="0" i="0">
                <a:solidFill>
                  <a:srgbClr val="CA8A04"/>
                </a:solidFill>
              </a:defRPr>
            </a:pPr>
            <a:r>
              <a:t>X-Factor:             31°    (+3° vs last session)   — below elite (40°)</a:t>
            </a:r>
          </a:p>
          <a:p>
            <a:pPr algn="l">
              <a:defRPr sz="1100" b="0" i="0">
                <a:solidFill>
                  <a:srgbClr val="15803D"/>
                </a:solidFill>
              </a:defRPr>
            </a:pPr>
            <a:r>
              <a:t>Lag Angle (Impact):   28°    (within optimal range)  ✓</a:t>
            </a:r>
          </a:p>
          <a:p>
            <a:pPr algn="l">
              <a:defRPr sz="1100" b="0" i="0">
                <a:solidFill>
                  <a:srgbClr val="CA8A04"/>
                </a:solidFill>
              </a:defRPr>
            </a:pPr>
            <a:r>
              <a:t>Early Cast:           Mild   (severity: 0.32)        ⚠</a:t>
            </a:r>
          </a:p>
          <a:p>
            <a:pPr algn="l">
              <a:defRPr sz="1100" b="0" i="0">
                <a:solidFill>
                  <a:srgbClr val="15803D"/>
                </a:solidFill>
              </a:defRPr>
            </a:pPr>
            <a:r>
              <a:t>Injury Risk:          Low    (score: 0.21)           ✓</a:t>
            </a:r>
          </a:p>
          <a:p>
            <a:pPr algn="l">
              <a:defRPr sz="500" b="0" i="0">
                <a:solidFill>
                  <a:srgbClr val="0F172A"/>
                </a:solidFill>
              </a:defRPr>
            </a:pPr>
            <a:endParaRPr/>
          </a:p>
          <a:p>
            <a:pPr algn="l">
              <a:defRPr sz="1100" b="1" i="0">
                <a:solidFill>
                  <a:srgbClr val="1E50A0"/>
                </a:solidFill>
              </a:defRPr>
            </a:pPr>
            <a:r>
              <a:t>PRIORITY FOR NEXT SESSION:</a:t>
            </a:r>
          </a:p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1.  Increase shoulder turn in backswing (+9° target to reach 40°)</a:t>
            </a:r>
          </a:p>
          <a:p>
            <a:pPr algn="l">
              <a:defRPr sz="1100" b="0" i="0">
                <a:solidFill>
                  <a:srgbClr val="0F172A"/>
                </a:solidFill>
              </a:defRPr>
            </a:pPr>
            <a:r>
              <a:t>2.  Monitor early cast — wrist releasing at hip height, not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How It Helps — Sports Medicine: Pre-Injury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</a:defRPr>
            </a:pPr>
            <a:r>
              <a:t>Golf injuries (lower back, elbow, wrist) are common and costly.  Clinicians currently lack quantified biomechanics data from actual on-course conditions to identify risk before injury occurs.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09728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What Sports Medicine Practitioners Receive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380744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444752"/>
            <a:ext cx="6400800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Individual injury risk score per session (0–1 scale, updated every swing)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SHAP report identifying which specific movement patterns are driving risk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Workload monitoring — how does biomechanics quality change as the golfer fatigues across 18 holes?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Longitudinal tracking — is the golfer's movement pattern worsening or improving over weeks?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Return-to-play benchmarking — has the patient's mechanics returned to pre-injury baseline?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SHAP outputs framed as 'risk indicators' — not diagnostic labels; augments clinician judgement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47872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Example Clinical SHAP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31336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2920" y="3895344"/>
            <a:ext cx="11228832" cy="1783080"/>
          </a:xfrm>
          <a:prstGeom prst="roundRect">
            <a:avLst/>
          </a:prstGeom>
          <a:solidFill>
            <a:srgbClr val="EBF1FC"/>
          </a:solidFill>
          <a:ln w="12700">
            <a:solidFill>
              <a:srgbClr val="1E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108630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F2447"/>
                </a:solidFill>
              </a:defRPr>
            </a:pPr>
            <a:r>
              <a:t>Golfer ID: 042   |   Session fatigue detected (seq. score dropped from 0.81 to 0.66 over 15 swings)</a:t>
            </a:r>
          </a:p>
          <a:p>
            <a:pPr algn="l">
              <a:defRPr sz="500" b="0" i="0">
                <a:solidFill>
                  <a:srgbClr val="0F172A"/>
                </a:solidFill>
              </a:defRPr>
            </a:pPr>
            <a:endParaRPr/>
          </a:p>
          <a:p>
            <a:pPr algn="l">
              <a:defRPr sz="1200" b="1" i="0">
                <a:solidFill>
                  <a:srgbClr val="B91C1C"/>
                </a:solidFill>
              </a:defRPr>
            </a:pPr>
            <a:r>
              <a:t>Injury Risk Score:  0.74  (HIGH)   ←  Threshold for clinical referral: 0.65</a:t>
            </a:r>
          </a:p>
          <a:p>
            <a:pPr algn="l">
              <a:defRPr sz="500" b="0" i="0">
                <a:solidFill>
                  <a:srgbClr val="0F172A"/>
                </a:solidFill>
              </a:defRPr>
            </a:pPr>
            <a:endParaRPr/>
          </a:p>
          <a:p>
            <a:pPr algn="l">
              <a:defRPr sz="1100" b="0" i="0">
                <a:solidFill>
                  <a:srgbClr val="B91C1C"/>
                </a:solidFill>
              </a:defRPr>
            </a:pPr>
            <a:r>
              <a:t>SHAP Attribution:   reverse_pivot_severity +0.31  ↑  (PRIMARY — fix this first)</a:t>
            </a:r>
          </a:p>
          <a:p>
            <a:pPr algn="l">
              <a:defRPr sz="1100" b="0" i="0">
                <a:solidFill>
                  <a:srgbClr val="CA8A04"/>
                </a:solidFill>
              </a:defRPr>
            </a:pPr>
            <a:r>
              <a:t>                    sway_severity          +0.18  ↑  (lateral load on SI joint)</a:t>
            </a:r>
          </a:p>
          <a:p>
            <a:pPr algn="l">
              <a:defRPr sz="1100" b="0" i="0">
                <a:solidFill>
                  <a:srgbClr val="15803D"/>
                </a:solidFill>
              </a:defRPr>
            </a:pPr>
            <a:r>
              <a:t>                    sequence_efficiency    −0.08  ↓  (partially protective)</a:t>
            </a:r>
          </a:p>
          <a:p>
            <a:pPr algn="l">
              <a:defRPr sz="1100" b="1" i="0">
                <a:solidFill>
                  <a:srgbClr val="1E50A0"/>
                </a:solidFill>
              </a:defRPr>
            </a:pPr>
            <a:r>
              <a:t>Clinical action: Address reverse pivot immediately. Predicted risk reduction to 0.43 if corrected.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Competitive Landscape — What GolfBioMetrics Does That No One Else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Feature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60120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024128"/>
          <a:ext cx="1122883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5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Consumer Apps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K-Vest / Gears 3D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TrackMan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GolfBioMetrics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Biomechanics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Partial (angles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 (ball flight)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 — 7 validated metrics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Feature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15–20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8–12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Demographic adjustments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 — age-matched benchmarks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Environmental adjustments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 — wind, altitude, temp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Time-series / fatigue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 — 1,252 frames per swing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Injury risk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 — R² = 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Per-golfer explanations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Yes — SHAP attribution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Hardware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$15K–$50K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$20K+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$0 — smartphone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378561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Our Competitive Advantages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133088"/>
            <a:ext cx="1122883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58-feature validated dataset — 2+ years of biomechanics research embedded in engineering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Environmental + demographic context — the combination no competitor has built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SHAP explanations — every prediction comes with a specific, actionable reason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No hardware dependency — any smartphone, scalable to millions of users</a:t>
            </a:r>
          </a:p>
          <a:p>
            <a:pPr algn="l">
              <a:defRPr sz="1200" b="0" i="0">
                <a:solidFill>
                  <a:srgbClr val="0F172A"/>
                </a:solidFill>
              </a:defRPr>
            </a:pPr>
            <a:r>
              <a:t>▸  Growing data asset — every swing analysed makes the models more accurate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Next Steps — From Proof of Concept to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What Exists Today (Deployment Ready)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60120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024128"/>
            <a:ext cx="112288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5803D"/>
                </a:solidFill>
              </a:defRPr>
            </a:pPr>
            <a:r>
              <a:t>✓  5 trained production ML models  (.pkl files, &lt; 5 ms inference per swing)</a:t>
            </a:r>
          </a:p>
          <a:p>
            <a:pPr algn="l">
              <a:defRPr sz="1200" b="1" i="0">
                <a:solidFill>
                  <a:srgbClr val="15803D"/>
                </a:solidFill>
              </a:defRPr>
            </a:pPr>
            <a:r>
              <a:t>✓  58-feature engineering pipeline  (&lt; 100 ms per swing end-to-end)</a:t>
            </a:r>
          </a:p>
          <a:p>
            <a:pPr algn="l">
              <a:defRPr sz="1200" b="1" i="0">
                <a:solidFill>
                  <a:srgbClr val="15803D"/>
                </a:solidFill>
              </a:defRPr>
            </a:pPr>
            <a:r>
              <a:t>✓  SHAP explanation engine  (Golfer / Coach / Equipment Fitter dashboards)</a:t>
            </a:r>
          </a:p>
          <a:p>
            <a:pPr algn="l">
              <a:defRPr sz="1200" b="1" i="0">
                <a:solidFill>
                  <a:srgbClr val="15803D"/>
                </a:solidFill>
              </a:defRPr>
            </a:pPr>
            <a:r>
              <a:t>✓  Statistical validation suite  (Kruskal-Wallis + Pearson on all 7 core metrics)</a:t>
            </a:r>
          </a:p>
          <a:p>
            <a:pPr algn="l">
              <a:defRPr sz="1200" b="1" i="0">
                <a:solidFill>
                  <a:srgbClr val="15803D"/>
                </a:solidFill>
              </a:defRPr>
            </a:pPr>
            <a:r>
              <a:t>✓  Clean codebase with unit tests, docstrings, and 6 enriched Jupyter notebooks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3566160" cy="2286000"/>
          </a:xfrm>
          <a:prstGeom prst="round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32257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Phase 1 — Beta Pilot  (Days 1–30)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52928"/>
            <a:ext cx="32918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Recruit 10 PGA-certified coaches as beta partners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Deploy inference API to cloud infrastructure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Collect 50 real video swings per coach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Validate synthetic-to-real performance transfer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2212848"/>
            <a:ext cx="3566160" cy="22860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5696" y="232257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Phase 2 — MVP Dashboard  (Days 31–60)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852928"/>
            <a:ext cx="32918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Upload video → view swing report in browser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Session history: track metrics across 10 swings / 1 session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Coach view: student progress charts over time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Target: 10 coaches, 5+ sessions each per week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2212848"/>
            <a:ext cx="3566160" cy="2286000"/>
          </a:xfrm>
          <a:prstGeom prst="round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232257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</a:defRPr>
            </a:pPr>
            <a:r>
              <a:t>Phase 3 — Expand  (Days 61–90)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852928"/>
            <a:ext cx="329184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Open beta to 500 individual golfers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Partner with equipment brands for A/B testing use case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Approach sports medicine clinics with injury risk demo</a:t>
            </a:r>
          </a:p>
          <a:p>
            <a:pPr algn="l">
              <a:defRPr sz="1100" b="0" i="0">
                <a:solidFill>
                  <a:srgbClr val="D2DCEB"/>
                </a:solidFill>
              </a:defRPr>
            </a:pPr>
            <a:r>
              <a:t>▸  Validate return-to-play benchmarking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4924"/>
            <a:ext cx="12191695" cy="32004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144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</a:defRPr>
            </a:pPr>
            <a:r>
              <a:t>Technical Appendix — Feature List, Hyperparameters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0972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CA8A04"/>
                </a:solidFill>
              </a:defRPr>
            </a:pPr>
            <a:r>
              <a:t>16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286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665976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94A3B8"/>
                </a:solidFill>
              </a:defRPr>
            </a:pPr>
            <a:r>
              <a:t>GolfBioMetrics  |  Data Sports Group (DSG)  |  June 2026  |  Nazmul Farooquee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665976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CA8A04"/>
                </a:solidFill>
              </a:defRPr>
            </a:pPr>
            <a:r>
              <a:t>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76656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Biomechanics (25)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950976"/>
            <a:ext cx="53766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kinematic_sequence_score  •  lag_angle_mid_downswing  •  lag_angle_impact  •  xfactor_degrees  •  xfactor_timing  •  weight_transfer_timing_ms  •  club_path_consistency  •  swing_tempo_ratio  •  early_cast_flag  •  reverse_pivot_flag  •  sway_flag  •  early_extension_flag  •  over_top_flag  •  compensation_severity  •  release_efficiency  •  weighted_quality_score  +  confidence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76656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Demographics (10)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950976"/>
            <a:ext cx="53766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age_capability_factor  •  career_stage  •  experience_engrainment  •  fitness_level  •  physical_profile_score  •  gender_encoded  •  dominant_hand_encoded  •  height_m  •  years_experience  •  fitness_capability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12848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Environmental (15)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3766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temperature_c  •  temperature_efficiency  •  wind_speed_mph  •  wind_headwind_component  •  wind_crosswind_component  •  humidity_pct  •  elevation_m  •  air_density_factor  •  env_difficulty_index  •  hour_of_day  •  circadian_factor  •  course_type_encoded  •  links_course_flag  •  green_speed_stimp  •  normalized_distance_factor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12848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E50A0"/>
                </a:solidFill>
              </a:defRPr>
            </a:pPr>
            <a:r>
              <a:t>Time-Series / Session (8)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87168"/>
            <a:ext cx="537667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75569"/>
                </a:solidFill>
              </a:defRPr>
            </a:pPr>
            <a:r>
              <a:t>club_speed_at_impact  •  time_to_peak_speed  •  swing_dominant_frequency  •  seq_consistency  •  seq_trend  •  speed_variance_recent  •  speed_trend  •  session_fatigue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93008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E50A0"/>
                </a:solidFill>
              </a:defRPr>
            </a:pPr>
            <a:r>
              <a:t>Model Hyperparameters  &amp;  Validation Methodology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76472"/>
            <a:ext cx="11228832" cy="16459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840480"/>
          <a:ext cx="11228832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4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Parameters</a:t>
                      </a:r>
                    </a:p>
                  </a:txBody>
                  <a:tcPr>
                    <a:solidFill>
                      <a:srgbClr val="0F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StandardScaler + L2 regularisation   |   Train / Val / Test: 70% / 15% / 15% stratified by skill level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max_depth=8, min_samples_leaf=10   |   Label-source column excluded to prevent circular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n_estimators=200, max_depth=12   |   Feature importance averaged across all 200 trees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n_estimators=200, max_depth=5, learning_rate=0.05   |   SHAP TreeExplainer for per-prediction attribution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kernel=RBF, C=1.0, gamma=scale   |   All classifiers: 10-fold cross-validation reported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3596</Words>
  <Application>Microsoft Office PowerPoint</Application>
  <PresentationFormat>Widescreen</PresentationFormat>
  <Paragraphs>496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Nazmul Mustufa Farooquee</cp:lastModifiedBy>
  <cp:revision>1</cp:revision>
  <dcterms:created xsi:type="dcterms:W3CDTF">2013-01-27T09:14:16Z</dcterms:created>
  <dcterms:modified xsi:type="dcterms:W3CDTF">2026-06-18T14:21:53Z</dcterms:modified>
  <cp:category/>
</cp:coreProperties>
</file>